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6ED7AF9-F9CC-4F9C-8582-3B9B3F82E58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C605848-7642-47B1-8128-5189AF478913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003D5B8-FF7F-4FCE-9FCA-5EED5FD2887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A64C732-9349-45A1-91B3-4BC7F9EB1996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58C4433-9AB3-412A-BB07-BA0A3F4ABCB9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8E5832-D66F-4AC8-A15D-5B1D4FBBCB0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43C76EC-DEB1-4AFE-9F4B-FA7A8ED3B492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4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04CE01-3A22-4B24-A81F-BB43AF00CF1E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BEBEF54-AD44-4DDB-85CD-230E606F641D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3134836-F0D0-4C17-8066-19DB9EC13988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9078989-9644-4278-8207-BA52EEFB6F34}" type="slidenum">
              <a:rPr b="0" lang="en-US" sz="1200" strike="noStrike" u="non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rgbClr val="142850"/>
                </a:solidFill>
                <a:effectLst/>
                <a:uFillTx/>
                <a:latin typeface="Calibri"/>
              </a:rPr>
              <a:t>MNIST ANN: How a Tiny Brain Learns Digits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440" cy="175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algn="ctr" defTabSz="457200">
              <a:lnSpc>
                <a:spcPct val="100000"/>
              </a:lnSpc>
              <a:spcBef>
                <a:spcPts val="439"/>
              </a:spcBef>
              <a:buNone/>
              <a:tabLst>
                <a:tab algn="l" pos="0"/>
              </a:tabLst>
            </a:pPr>
            <a:r>
              <a:rPr b="0" lang="en-US" sz="2200" strike="noStrike" u="none">
                <a:solidFill>
                  <a:srgbClr val="d65d0e"/>
                </a:solidFill>
                <a:effectLst/>
                <a:uFillTx/>
                <a:latin typeface="Calibri"/>
              </a:rPr>
              <a:t>Fast, funny, and fully NumPy (no deep-learning frameworks harmed in this experiment)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rgbClr val="142850"/>
                </a:solidFill>
                <a:effectLst/>
                <a:uFillTx/>
                <a:latin typeface="Calibri"/>
              </a:rPr>
              <a:t>Why This Matters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A neural net is just matrix math + stubborn optimism.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We control every lever: inputs, hidden nodes, weights, learning rate, epochs.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Because we built it from scratch, we can explain every prediction.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TextBox 3"/>
          <p:cNvSpPr/>
          <p:nvPr/>
        </p:nvSpPr>
        <p:spPr>
          <a:xfrm>
            <a:off x="548640" y="5852160"/>
            <a:ext cx="1115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d65d0e"/>
                </a:solidFill>
                <a:effectLst/>
                <a:uFillTx/>
                <a:latin typeface="Calibri"/>
              </a:rPr>
              <a:t>Yes, this is legal machine learning with only NumPy.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rgbClr val="142850"/>
                </a:solidFill>
                <a:effectLst/>
                <a:uFillTx/>
                <a:latin typeface="Calibri"/>
              </a:rPr>
              <a:t>The Model in One Picture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Input: 784 pixels (28x28) per image.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Hidden layer: learns useful patterns (strokes, corners, curves).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Output: 10 probabilities for digits 0-9.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5" name="TextBox 3"/>
          <p:cNvSpPr/>
          <p:nvPr/>
        </p:nvSpPr>
        <p:spPr>
          <a:xfrm>
            <a:off x="548640" y="5852160"/>
            <a:ext cx="1115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d65d0e"/>
                </a:solidFill>
                <a:effectLst/>
                <a:uFillTx/>
                <a:latin typeface="Calibri"/>
              </a:rPr>
              <a:t>Think: compressed detective work from raw pixels to class probabilities.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rgbClr val="142850"/>
                </a:solidFill>
                <a:effectLst/>
                <a:uFillTx/>
                <a:latin typeface="Calibri"/>
              </a:rPr>
              <a:t>Forward Pass (Prediction Time)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Step 1: Weighted sum + bias in hidden layer.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Step 2: ReLU keeps positive signals, zeros out weak negatives.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Step 3: Softmax turns scores into probabilities.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Result: The model picks the highest-probability digit.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Box 3"/>
          <p:cNvSpPr/>
          <p:nvPr/>
        </p:nvSpPr>
        <p:spPr>
          <a:xfrm>
            <a:off x="548640" y="5852160"/>
            <a:ext cx="1115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d65d0e"/>
                </a:solidFill>
                <a:effectLst/>
                <a:uFillTx/>
                <a:latin typeface="Calibri"/>
              </a:rPr>
              <a:t>Forward pass = the network making its best guess.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rgbClr val="142850"/>
                </a:solidFill>
                <a:effectLst/>
                <a:uFillTx/>
                <a:latin typeface="Calibri"/>
              </a:rPr>
              <a:t>Backpropagation (Learning Time)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Compare prediction with true label to get error.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Send error backward through the layers (chain rule).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Compute gradients for each weight and bias.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Update parameters: old value - learning_rate x gradient.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548640" y="5852160"/>
            <a:ext cx="1115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d65d0e"/>
                </a:solidFill>
                <a:effectLst/>
                <a:uFillTx/>
                <a:latin typeface="Calibri"/>
              </a:rPr>
              <a:t>Backprop = polite but relentless correction.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rgbClr val="142850"/>
                </a:solidFill>
                <a:effectLst/>
                <a:uFillTx/>
                <a:latin typeface="Calibri"/>
              </a:rPr>
              <a:t>The Speed/Accuracy Trade-Off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More hidden nodes: usually better accuracy, slower epochs.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Bigger learning rate: faster progress, but can overshoot.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More epochs: better fit, until overfitting knocks.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Batch size changes throughput and generalization behavior.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4" name="TextBox 3"/>
          <p:cNvSpPr/>
          <p:nvPr/>
        </p:nvSpPr>
        <p:spPr>
          <a:xfrm>
            <a:off x="548640" y="5852160"/>
            <a:ext cx="1115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d65d0e"/>
                </a:solidFill>
                <a:effectLst/>
                <a:uFillTx/>
                <a:latin typeface="Calibri"/>
              </a:rPr>
              <a:t>Training is optimization, not wishful thinking.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rgbClr val="142850"/>
                </a:solidFill>
                <a:effectLst/>
                <a:uFillTx/>
                <a:latin typeface="Calibri"/>
              </a:rPr>
              <a:t>What We Experimented With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Hidden nodes sweep: 32, 64, 128, 256.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Initialization scale sweep: 0.25, 0.5, 1.0, 2.0.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Speed sensitivity: batch size x learning rate grid.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Learning curves tracked every epoch.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548640" y="5852160"/>
            <a:ext cx="1115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d65d0e"/>
                </a:solidFill>
                <a:effectLst/>
                <a:uFillTx/>
                <a:latin typeface="Calibri"/>
              </a:rPr>
              <a:t>We don't just report one score; we map the behavior landscape.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rgbClr val="142850"/>
                </a:solidFill>
                <a:effectLst/>
                <a:uFillTx/>
                <a:latin typeface="Calibri"/>
              </a:rPr>
              <a:t>How to Read the Curves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Train and validation accuracy rising together: healthy learning.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Train up, validation flat/down: overfitting warning.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Both low and flat: underfitting or poor hyperparameters.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Epoch-time curve reveals computational cost directly.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3"/>
          <p:cNvSpPr/>
          <p:nvPr/>
        </p:nvSpPr>
        <p:spPr>
          <a:xfrm>
            <a:off x="548640" y="5852160"/>
            <a:ext cx="1115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d65d0e"/>
                </a:solidFill>
                <a:effectLst/>
                <a:uFillTx/>
                <a:latin typeface="Calibri"/>
              </a:rPr>
              <a:t>Curves are the model's diary: confidence, confusion, and growth.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3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1" lang="en-US" sz="4000" strike="noStrike" u="none">
                <a:solidFill>
                  <a:srgbClr val="142850"/>
                </a:solidFill>
                <a:effectLst/>
                <a:uFillTx/>
                <a:latin typeface="Calibri"/>
              </a:rPr>
              <a:t>Before the Live Demo</a:t>
            </a:r>
            <a:endParaRPr b="0" lang="en-US" sz="4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We know what each knob does.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We know where speed is gained and where accuracy is lost.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We can justify architecture choices with evidence.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spcAft>
                <a:spcPts val="799"/>
              </a:spcAft>
              <a:buClr>
                <a:srgbClr val="232323"/>
              </a:buClr>
              <a:buFont typeface="Arial"/>
              <a:buChar char="•"/>
            </a:pPr>
            <a:r>
              <a:rPr b="0" lang="en-US" sz="2400" strike="noStrike" u="none">
                <a:solidFill>
                  <a:srgbClr val="232323"/>
                </a:solidFill>
                <a:effectLst/>
                <a:uFillTx/>
                <a:latin typeface="Calibri"/>
              </a:rPr>
              <a:t>Now let's demonstrate training and predictions live.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3" name="TextBox 3"/>
          <p:cNvSpPr/>
          <p:nvPr/>
        </p:nvSpPr>
        <p:spPr>
          <a:xfrm>
            <a:off x="548640" y="5852160"/>
            <a:ext cx="111553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t" anchorCtr="1">
            <a:spAutoFit/>
          </a:bodyPr>
          <a:p>
            <a:pPr algn="r" defTabSz="457200">
              <a:lnSpc>
                <a:spcPct val="100000"/>
              </a:lnSpc>
            </a:pPr>
            <a:r>
              <a:rPr b="0" i="1" lang="en-US" sz="1400" strike="noStrike" u="none">
                <a:solidFill>
                  <a:srgbClr val="d65d0e"/>
                </a:solidFill>
                <a:effectLst/>
                <a:uFillTx/>
                <a:latin typeface="Calibri"/>
              </a:rPr>
              <a:t>Time to make the digits confess.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LibreOffice/25.2.3.2$Linux_X86_64 LibreOffice_project/520$Build-2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